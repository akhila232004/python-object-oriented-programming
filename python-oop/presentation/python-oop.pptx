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33472" y="1792224"/>
            <a:ext cx="4343400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1901952"/>
            <a:ext cx="36576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262626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359152"/>
            <a:ext cx="39776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>
                <a:solidFill>
                  <a:srgbClr val="3778AF"/>
                </a:solidFill>
                <a:latin typeface="Aptos Display"/>
              </a:defRPr>
            </a:pPr>
            <a:r>
              <a:t>Object-Oriented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rm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30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Object-Oriented Programming (OOP) structures Python code around real-world entities as objects.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0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Objects are instances of classes, and Python supports OOP to create modular and reusable code.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0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A class combines data and functionality into one unit and acts as a blueprint for creating objects.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0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A class can contain attributes (data) and methods (functions) that operate on that data.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50" b="1">
                <a:solidFill>
                  <a:srgbClr val="FFFFFF"/>
                </a:solidFill>
                <a:latin typeface="Aptos Display"/>
              </a:defRPr>
            </a:pPr>
            <a:r>
              <a:t>Python Object-Oriented Programming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1060">
                <a:solidFill>
                  <a:srgbClr val="262626"/>
                </a:solidFill>
                <a:latin typeface="Aptos"/>
              </a:defRPr>
            </a:pPr>
            <a:r>
              <a:t>A class defines the properties and behaviors that objects created from it will have.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1060">
                <a:solidFill>
                  <a:srgbClr val="262626"/>
                </a:solidFill>
                <a:latin typeface="Aptos"/>
              </a:defRPr>
            </a:pPr>
            <a:r>
              <a:t>Attributes are data stored within a class or instance and represent the object's state or characteristics.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1060">
                <a:solidFill>
                  <a:srgbClr val="262626"/>
                </a:solidFill>
                <a:latin typeface="Aptos"/>
              </a:defRPr>
            </a:pPr>
            <a:r>
              <a:t>Methods are functions defined within a class; they perform operations on object data and can modify state.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1060">
                <a:solidFill>
                  <a:srgbClr val="262626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990">
                <a:solidFill>
                  <a:srgbClr val="262626"/>
                </a:solidFill>
                <a:latin typeface="Courier New"/>
              </a:defRPr>
            </a:pPr>
            <a:r>
              <a:t>class Tinitiate: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990">
                <a:solidFill>
                  <a:srgbClr val="262626"/>
                </a:solidFill>
                <a:latin typeface="Courier New"/>
              </a:defRPr>
            </a:pPr>
            <a:r>
              <a:t>    ti_var = 100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990">
                <a:solidFill>
                  <a:srgbClr val="262626"/>
                </a:solidFill>
                <a:latin typeface="Courier New"/>
              </a:defRPr>
            </a:pPr>
            <a:r>
              <a:t>    ti_list = ["a", "b", "c"]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990">
                <a:solidFill>
                  <a:srgbClr val="262626"/>
                </a:solidFill>
                <a:latin typeface="Courier New"/>
              </a:defRPr>
            </a:pPr>
            <a:r>
              <a:t>    def ti_function(self): print("This is a message from the TINITIATE Class ti_function")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Class, Attributes and Methods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1060">
                <a:solidFill>
                  <a:srgbClr val="262626"/>
                </a:solidFill>
                <a:latin typeface="Aptos"/>
              </a:defRPr>
            </a:pPr>
            <a:r>
              <a:t>An object is an instance of a class and a concrete realization of its blueprint.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1060">
                <a:solidFill>
                  <a:srgbClr val="262626"/>
                </a:solidFill>
                <a:latin typeface="Aptos"/>
              </a:defRPr>
            </a:pPr>
            <a:r>
              <a:t>Objects have attributes (data) and methods (functions) associated with them.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1060">
                <a:solidFill>
                  <a:srgbClr val="262626"/>
                </a:solidFill>
                <a:latin typeface="Aptos"/>
              </a:defRPr>
            </a:pPr>
            <a:r>
              <a:t>Multiple objects can be created from the same class, each with its own set of attributes.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1060">
                <a:solidFill>
                  <a:srgbClr val="262626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1060">
                <a:solidFill>
                  <a:srgbClr val="262626"/>
                </a:solidFill>
                <a:latin typeface="Aptos"/>
              </a:defRPr>
            </a:pPr>
            <a:r>
              <a:t>tinObject = Tinitiate()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1060">
                <a:solidFill>
                  <a:srgbClr val="262626"/>
                </a:solidFill>
                <a:latin typeface="Aptos"/>
              </a:defRPr>
            </a:pPr>
            <a:r>
              <a:t>print(tinObject.ti_var)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1060">
                <a:solidFill>
                  <a:srgbClr val="262626"/>
                </a:solidFill>
                <a:latin typeface="Aptos"/>
              </a:defRPr>
            </a:pPr>
            <a:r>
              <a:t>tinObject.ti_function()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1060">
                <a:solidFill>
                  <a:srgbClr val="262626"/>
                </a:solidFill>
                <a:latin typeface="Aptos"/>
              </a:defRPr>
            </a:pPr>
            <a:r>
              <a:t>A class is the specification; an object is its runtime implementation.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Objects and Object Creation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1060">
                <a:solidFill>
                  <a:srgbClr val="262626"/>
                </a:solidFill>
                <a:latin typeface="Aptos"/>
              </a:defRPr>
            </a:pPr>
            <a:r>
              <a:t>A constructor initializes newly created objects and is defined with the __init__() method.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1060">
                <a:solidFill>
                  <a:srgbClr val="262626"/>
                </a:solidFill>
                <a:latin typeface="Aptos"/>
              </a:defRPr>
            </a:pPr>
            <a:r>
              <a:t>The constructor is automatically called whenever a new instance of a class is created.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1060">
                <a:solidFill>
                  <a:srgbClr val="262626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990">
                <a:solidFill>
                  <a:srgbClr val="262626"/>
                </a:solidFill>
                <a:latin typeface="Courier New"/>
              </a:defRPr>
            </a:pPr>
            <a:r>
              <a:t>class Person: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990">
                <a:solidFill>
                  <a:srgbClr val="262626"/>
                </a:solidFill>
                <a:latin typeface="Courier New"/>
              </a:defRPr>
            </a:pPr>
            <a:r>
              <a:t>    def __init__(self, name, age):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990">
                <a:solidFill>
                  <a:srgbClr val="262626"/>
                </a:solidFill>
                <a:latin typeface="Courier New"/>
              </a:defRPr>
            </a:pPr>
            <a:r>
              <a:t>        self.name = name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990">
                <a:solidFill>
                  <a:srgbClr val="262626"/>
                </a:solidFill>
                <a:latin typeface="Courier New"/>
              </a:defRPr>
            </a:pPr>
            <a:r>
              <a:t>        self.age = age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1060">
                <a:solidFill>
                  <a:srgbClr val="262626"/>
                </a:solidFill>
                <a:latin typeface="Aptos"/>
              </a:defRPr>
            </a:pPr>
            <a:r>
              <a:t>The self parameter refers to the instance itself and is conventionally the first parameter of class methods.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Constructor and self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1060">
                <a:solidFill>
                  <a:srgbClr val="262626"/>
                </a:solidFill>
                <a:latin typeface="Aptos"/>
              </a:defRPr>
            </a:pPr>
            <a:r>
              <a:t>Python can create private variables by prefixing a variable name with two underscores (__).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1060">
                <a:solidFill>
                  <a:srgbClr val="262626"/>
                </a:solidFill>
                <a:latin typeface="Aptos"/>
              </a:defRPr>
            </a:pPr>
            <a:r>
              <a:t>This is called name mangling and makes direct external access more difficult; Python does not provide truly private variables.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1060">
                <a:solidFill>
                  <a:srgbClr val="262626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990">
                <a:solidFill>
                  <a:srgbClr val="262626"/>
                </a:solidFill>
                <a:latin typeface="Courier New"/>
              </a:defRPr>
            </a:pPr>
            <a:r>
              <a:t>class MyClass: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990">
                <a:solidFill>
                  <a:srgbClr val="262626"/>
                </a:solidFill>
                <a:latin typeface="Courier New"/>
              </a:defRPr>
            </a:pPr>
            <a:r>
              <a:t>    def __init__(self):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990">
                <a:solidFill>
                  <a:srgbClr val="262626"/>
                </a:solidFill>
                <a:latin typeface="Courier New"/>
              </a:defRPr>
            </a:pPr>
            <a:r>
              <a:t>        self.public_variable = "I'm public!"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990">
                <a:solidFill>
                  <a:srgbClr val="262626"/>
                </a:solidFill>
                <a:latin typeface="Courier New"/>
              </a:defRPr>
            </a:pPr>
            <a:r>
              <a:t>        self.__private_variable = "I'm private!"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1060">
                <a:solidFill>
                  <a:srgbClr val="262626"/>
                </a:solidFill>
                <a:latin typeface="Aptos"/>
              </a:defRPr>
            </a:pPr>
            <a:r>
              <a:t>Getter and setter methods provide controlled access to the private variable.</a:t>
            </a:r>
          </a:p>
          <a:p>
            <a:pPr>
              <a:lnSpc>
                <a:spcPct val="77000"/>
              </a:lnSpc>
              <a:spcBef>
                <a:spcPts val="0"/>
              </a:spcBef>
              <a:spcAft>
                <a:spcPts val="30"/>
              </a:spcAft>
              <a:defRPr sz="1060">
                <a:solidFill>
                  <a:srgbClr val="262626"/>
                </a:solidFill>
                <a:latin typeface="Aptos"/>
              </a:defRPr>
            </a:pPr>
            <a:r>
              <a:t>Direct access to __private_variable from outside the class results in an AttributeError.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Class Private Variables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30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Encapsulation bundles data and the methods that operate on that data within a single class.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0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It supports data hiding and abstraction by controlling access to an object's internal state.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0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Example: a Circle class stores __radius as a private attribute and exposes get_radius() and set_radius().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0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The setter validates the value before changing the private radius.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30"/>
              </a:spcAft>
              <a:defRPr sz="1200">
                <a:solidFill>
                  <a:srgbClr val="262626"/>
                </a:solidFill>
                <a:latin typeface="Aptos"/>
              </a:defRPr>
            </a:pPr>
            <a:r>
              <a:t>For radius values 3, 5, and 0, the example outputs 3, 5, and "Radius must be greater than 0."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Encapsulation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36576" rIns="36576" tIns="18288" bIns="18288">
            <a:noAutofit/>
          </a:bodyPr>
          <a:lstStyle/>
          <a:p>
            <a:pPr>
              <a:lnSpc>
                <a:spcPct val="82000"/>
              </a:lnSpc>
              <a:spcBef>
                <a:spcPts val="0"/>
              </a:spcBef>
              <a:spcAft>
                <a:spcPts val="3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Inheritance allows a new class to inherit properties and methods from an existing base class.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In the example, Dog and Cat inherit from Animal and override speak() to return "Woof!" and "Meow!".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Polymorphism allows objects of different classes to be treated through a common interface.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animal_sound(animal) calls animal.speak() and works with both Dog and Cat objects.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Together, classes, encapsulation, inheritance, and polymorphism help create modular and reusable software.</a:t>
            </a:r>
          </a:p>
          <a:p>
            <a:pPr>
              <a:lnSpc>
                <a:spcPct val="82000"/>
              </a:lnSpc>
              <a:spcBef>
                <a:spcPts val="0"/>
              </a:spcBef>
              <a:spcAft>
                <a:spcPts val="30"/>
              </a:spcAft>
              <a:defRPr sz="1140">
                <a:solidFill>
                  <a:srgbClr val="262626"/>
                </a:solidFill>
                <a:latin typeface="Aptos"/>
              </a:defRPr>
            </a:pPr>
            <a:r>
              <a:t>Understanding these concepts is essential for building robust and scalable Python applications.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73152"/>
            <a:ext cx="60807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50" b="1">
                <a:solidFill>
                  <a:srgbClr val="FFFFFF"/>
                </a:solidFill>
                <a:latin typeface="Aptos Display"/>
              </a:defRPr>
            </a:pPr>
            <a:r>
              <a:t>Inheritance, Polymorphism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